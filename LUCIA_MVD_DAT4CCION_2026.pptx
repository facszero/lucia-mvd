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-1371600"/>
            <a:ext cx="5486400" cy="5486400"/>
          </a:xfrm>
          <a:prstGeom prst="ellipse">
            <a:avLst/>
          </a:prstGeom>
          <a:solidFill>
            <a:srgbClr val="6C63FF">
              <a:alpha val="12000"/>
            </a:srgbClr>
          </a:solidFill>
          <a:ln w="12700">
            <a:solidFill>
              <a:srgbClr val="6C63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FF6B9D">
              <a:alpha val="8000"/>
            </a:srgbClr>
          </a:solidFill>
          <a:ln w="12700">
            <a:solidFill>
              <a:srgbClr val="FF6B9D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47472"/>
            <a:ext cx="2560320" cy="329184"/>
          </a:xfrm>
          <a:prstGeom prst="rect">
            <a:avLst/>
          </a:prstGeom>
          <a:solidFill>
            <a:srgbClr val="1C2035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74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ONU MUJERES · DAT4CCIÓN 2026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7315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400" kern="0" dirty="0">
                <a:solidFill>
                  <a:srgbClr val="6C63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LUCÍA-MVD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Localizador Urbano de Condiciones de Inseguridad y Alerta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Riesgo Invisible para Mujeres · Montevideo, Uruguay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2468880" cy="1097280"/>
          </a:xfrm>
          <a:prstGeom prst="rect">
            <a:avLst/>
          </a:prstGeom>
          <a:solidFill>
            <a:srgbClr val="1C2035"/>
          </a:solidFill>
          <a:ln w="12700">
            <a:solidFill>
              <a:srgbClr val="25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017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43.245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denuncias VDA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2971800"/>
            <a:ext cx="2468880" cy="1097280"/>
          </a:xfrm>
          <a:prstGeom prst="rect">
            <a:avLst/>
          </a:prstGeom>
          <a:solidFill>
            <a:srgbClr val="1C2035"/>
          </a:solidFill>
          <a:ln w="12700">
            <a:solidFill>
              <a:srgbClr val="25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0" y="3017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608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291840" y="35661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celdas urbanas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mapeadas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2971800"/>
            <a:ext cx="2468880" cy="1097280"/>
          </a:xfrm>
          <a:prstGeom prst="rect">
            <a:avLst/>
          </a:prstGeom>
          <a:solidFill>
            <a:srgbClr val="1C2035"/>
          </a:solidFill>
          <a:ln w="12700">
            <a:solidFill>
              <a:srgbClr val="25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3017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126480" y="35661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GeoPandas · XGBoost · SHAP · Folium ·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riesgo existe antes de la denuncia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3840480" cy="3291840"/>
          </a:xfrm>
          <a:prstGeom prst="rect">
            <a:avLst/>
          </a:prstGeom>
          <a:solidFill>
            <a:srgbClr val="1C2035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61872"/>
            <a:ext cx="64008" cy="3291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víctimas de VDA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mujeres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3172968"/>
            <a:ext cx="2926080" cy="0"/>
          </a:xfrm>
          <a:prstGeom prst="line">
            <a:avLst/>
          </a:prstGeom>
          <a:noFill/>
          <a:ln w="6350">
            <a:solidFill>
              <a:srgbClr val="252A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5A8"/>
                </a:solidFill>
              </a:rPr>
              <a:t>Fuente: </a:t>
            </a:r>
            <a:pPr algn="ctr" indent="0" marL="0">
              <a:buNone/>
            </a:pPr>
            <a:r>
              <a:rPr lang="en-US" sz="1000" i="1" dirty="0">
                <a:solidFill>
                  <a:srgbClr val="7C85A8"/>
                </a:solidFill>
              </a:rPr>
              <a:t>DNPG / Ministerio del Interior Uruguay, 2023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subregistro es estructural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261872"/>
            <a:ext cx="4023360" cy="987552"/>
          </a:xfrm>
          <a:prstGeom prst="rect">
            <a:avLst/>
          </a:prstGeom>
          <a:solidFill>
            <a:srgbClr val="1C2035"/>
          </a:solidFill>
          <a:ln w="12700">
            <a:solidFill>
              <a:srgbClr val="25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33502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El mapa oficial muestra dónde hubo denuncias,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7190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dónde existe riesgo latente.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2377440"/>
            <a:ext cx="4023360" cy="987552"/>
          </a:xfrm>
          <a:prstGeom prst="rect">
            <a:avLst/>
          </a:prstGeom>
          <a:solidFill>
            <a:srgbClr val="1C2035"/>
          </a:solidFill>
          <a:ln w="12700">
            <a:solidFill>
              <a:srgbClr val="25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24505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El riesgo varía dramáticamente por franja horaria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8346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los datos no se analizan así.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3493008"/>
            <a:ext cx="4023360" cy="987552"/>
          </a:xfrm>
          <a:prstGeom prst="rect">
            <a:avLst/>
          </a:prstGeom>
          <a:solidFill>
            <a:srgbClr val="1C2035"/>
          </a:solidFill>
          <a:ln w="12700">
            <a:solidFill>
              <a:srgbClr val="25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35661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Zonas vulnerables sin voz activa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39502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quedan invisibles en la política pública.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esperamos a que el riesgo se convierta en tragedia: usamos datos para anticiparlo.”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LUCÍA: un sistema de alerta temprana basado en datos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691640" cy="1261872"/>
          </a:xfrm>
          <a:prstGeom prst="rect">
            <a:avLst/>
          </a:prstGeom>
          <a:solidFill>
            <a:srgbClr val="1C2035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169164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356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IVO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72821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Violencia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" y="22128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 35%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1720" y="1325880"/>
            <a:ext cx="1691640" cy="1261872"/>
          </a:xfrm>
          <a:prstGeom prst="rect">
            <a:avLst/>
          </a:prstGeom>
          <a:solidFill>
            <a:srgbClr val="1C20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31720" y="1325880"/>
            <a:ext cx="16916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14356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 IAT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04872" y="172821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Aislamiento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Transporte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04872" y="22128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 25%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06240" y="1325880"/>
            <a:ext cx="1691640" cy="1261872"/>
          </a:xfrm>
          <a:prstGeom prst="rect">
            <a:avLst/>
          </a:prstGeom>
          <a:solidFill>
            <a:srgbClr val="1C2035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06240" y="1325880"/>
            <a:ext cx="169164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9392" y="14356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 IVS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79392" y="172821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Vulnerabilidad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79392" y="22128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 20%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389888" y="2743200"/>
            <a:ext cx="1691640" cy="1261872"/>
          </a:xfrm>
          <a:prstGeom prst="rect">
            <a:avLst/>
          </a:prstGeom>
          <a:solidFill>
            <a:srgbClr val="1C2035"/>
          </a:solidFill>
          <a:ln w="190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89888" y="2743200"/>
            <a:ext cx="1691640" cy="457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28529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IAE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314553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463040" y="36301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 12%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64408" y="2743200"/>
            <a:ext cx="1691640" cy="1261872"/>
          </a:xfrm>
          <a:prstGeom prst="rect">
            <a:avLst/>
          </a:prstGeom>
          <a:solidFill>
            <a:srgbClr val="1C2035"/>
          </a:solidFill>
          <a:ln w="19050">
            <a:solidFill>
              <a:srgbClr val="FF6B9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2743200"/>
            <a:ext cx="1691640" cy="4572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8529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IDE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37560" y="314553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Equipamiento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37560" y="36301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 8%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1234440"/>
            <a:ext cx="3108960" cy="3200400"/>
          </a:xfrm>
          <a:prstGeom prst="rect">
            <a:avLst/>
          </a:prstGeom>
          <a:solidFill>
            <a:srgbClr val="1C2035"/>
          </a:solidFill>
          <a:ln w="12700">
            <a:solidFill>
              <a:srgbClr val="252A42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77840" y="1234440"/>
            <a:ext cx="64008" cy="32004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135331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DEL SISTEMA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0" y="171907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🗺️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053328" y="17190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 608 celdas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053328" y="197510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0-100 por celda y franja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69280" y="224942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⏰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053328" y="22494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franjas horarias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053328" y="250545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 · Tarde · Noche · Madrugada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669280" y="277977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🤖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053328" y="27797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 SHAP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053328" y="30358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factor domina en cada zona?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69280" y="33101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⚡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053328" y="33101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what-if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053328" y="35661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de intervenciones antes de ejecutarlas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669280" y="384048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📊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053328" y="38404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público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053328" y="409651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para gestores y tomadores de decisión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Multiplicadores temporales: Mañana ×0.70 · Tarde ×1.00 · Noche ×1.45 · Madrugada ×1.30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Pipeline reproducible end-to-end · 18 segundos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176272" y="2084832"/>
            <a:ext cx="338328" cy="91440"/>
          </a:xfrm>
          <a:prstGeom prst="rect">
            <a:avLst/>
          </a:prstGeom>
          <a:solidFill>
            <a:srgbClr val="252A42"/>
          </a:solidFill>
          <a:ln w="12700">
            <a:solidFill>
              <a:srgbClr val="252A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1920240" cy="3246120"/>
          </a:xfrm>
          <a:prstGeom prst="rect">
            <a:avLst/>
          </a:prstGeom>
          <a:solidFill>
            <a:srgbClr val="1C2035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19202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984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810512"/>
            <a:ext cx="1554480" cy="0"/>
          </a:xfrm>
          <a:prstGeom prst="line">
            <a:avLst/>
          </a:prstGeom>
          <a:noFill/>
          <a:ln w="6350">
            <a:solidFill>
              <a:srgbClr val="252A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231136"/>
            <a:ext cx="170078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43.245 denuncias VDA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 paradas STM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1.361 equipamientos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barrios (INE)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25112" y="2084832"/>
            <a:ext cx="338328" cy="91440"/>
          </a:xfrm>
          <a:prstGeom prst="rect">
            <a:avLst/>
          </a:prstGeom>
          <a:solidFill>
            <a:srgbClr val="252A42"/>
          </a:solidFill>
          <a:ln w="12700">
            <a:solidFill>
              <a:srgbClr val="252A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234440"/>
            <a:ext cx="1920240" cy="3246120"/>
          </a:xfrm>
          <a:prstGeom prst="rect">
            <a:avLst/>
          </a:prstGeom>
          <a:solidFill>
            <a:srgbClr val="1C20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123444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2984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2697480" y="1810512"/>
            <a:ext cx="1554480" cy="0"/>
          </a:xfrm>
          <a:prstGeom prst="line">
            <a:avLst/>
          </a:prstGeom>
          <a:noFill/>
          <a:ln w="6350">
            <a:solidFill>
              <a:srgbClr val="252A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24328" y="2231136"/>
            <a:ext cx="170078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Grilla 608 celdas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variables/celda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Máscara costera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Min-Max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73952" y="2084832"/>
            <a:ext cx="338328" cy="91440"/>
          </a:xfrm>
          <a:prstGeom prst="rect">
            <a:avLst/>
          </a:prstGeom>
          <a:solidFill>
            <a:srgbClr val="252A42"/>
          </a:solidFill>
          <a:ln w="12700">
            <a:solidFill>
              <a:srgbClr val="252A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234440"/>
            <a:ext cx="1920240" cy="3246120"/>
          </a:xfrm>
          <a:prstGeom prst="rect">
            <a:avLst/>
          </a:prstGeom>
          <a:solidFill>
            <a:srgbClr val="1C2035"/>
          </a:solidFill>
          <a:ln w="190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234440"/>
            <a:ext cx="192024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2984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4846320" y="1810512"/>
            <a:ext cx="1554480" cy="0"/>
          </a:xfrm>
          <a:prstGeom prst="line">
            <a:avLst/>
          </a:prstGeom>
          <a:noFill/>
          <a:ln w="6350">
            <a:solidFill>
              <a:srgbClr val="252A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73168" y="2231136"/>
            <a:ext cx="170078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93.4%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F1-weighted: 93.4%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TreeExplainer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12280" y="1234440"/>
            <a:ext cx="1920240" cy="3246120"/>
          </a:xfrm>
          <a:prstGeom prst="rect">
            <a:avLst/>
          </a:prstGeom>
          <a:solidFill>
            <a:srgbClr val="1C2035"/>
          </a:solidFill>
          <a:ln w="19050">
            <a:solidFill>
              <a:srgbClr val="FF6B9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1234440"/>
            <a:ext cx="1920240" cy="54864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12984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6995160" y="1810512"/>
            <a:ext cx="1554480" cy="0"/>
          </a:xfrm>
          <a:prstGeom prst="line">
            <a:avLst/>
          </a:prstGeom>
          <a:noFill/>
          <a:ln w="6350">
            <a:solidFill>
              <a:srgbClr val="252A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22008" y="2231136"/>
            <a:ext cx="170078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+ Streamlit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what-if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franja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 la nube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645152"/>
            <a:ext cx="8412480" cy="329184"/>
          </a:xfrm>
          <a:prstGeom prst="rect">
            <a:avLst/>
          </a:prstGeom>
          <a:solidFill>
            <a:srgbClr val="1C2035"/>
          </a:solidFill>
          <a:ln w="12700">
            <a:solidFill>
              <a:srgbClr val="252A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Fuentes: DNPG/MI Uruguay · STM Montevideo · INE Censo · IMM / IDE Geoportal · Catálogo Datos Abiertos Uruguay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modelo identifica patrones que los datos tradicionales no capturan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20240" cy="960120"/>
          </a:xfrm>
          <a:prstGeom prst="rect">
            <a:avLst/>
          </a:prstGeom>
          <a:solidFill>
            <a:srgbClr val="1C2035"/>
          </a:solidFill>
          <a:ln w="190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070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93.4%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188720"/>
            <a:ext cx="1920240" cy="960120"/>
          </a:xfrm>
          <a:prstGeom prst="rect">
            <a:avLst/>
          </a:prstGeom>
          <a:solidFill>
            <a:srgbClr val="1C2035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2070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1460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1920240" cy="960120"/>
          </a:xfrm>
          <a:prstGeom prst="rect">
            <a:avLst/>
          </a:prstGeom>
          <a:solidFill>
            <a:srgbClr val="1C2035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2070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×1.45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6344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Multiplicador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nocturno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12280" y="1188720"/>
            <a:ext cx="1920240" cy="960120"/>
          </a:xfrm>
          <a:prstGeom prst="rect">
            <a:avLst/>
          </a:prstGeom>
          <a:solidFill>
            <a:srgbClr val="1C20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2070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81228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331720"/>
            <a:ext cx="5303520" cy="2514600"/>
          </a:xfrm>
          <a:prstGeom prst="rect">
            <a:avLst/>
          </a:prstGeom>
          <a:solidFill>
            <a:srgbClr val="1C2035"/>
          </a:solidFill>
          <a:ln w="12700">
            <a:solidFill>
              <a:srgbClr val="25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331720"/>
            <a:ext cx="54864" cy="25146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957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SHAP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2761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espacial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78608" y="2798064"/>
            <a:ext cx="288097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730" y="27614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2.78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3090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 social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78608" y="3127248"/>
            <a:ext cx="2155546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7306" y="30906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2.08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34198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Violencia histórica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78608" y="3456432"/>
            <a:ext cx="2145182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6942" y="34198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2.07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3749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Luminarias en 200m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78608" y="3785616"/>
            <a:ext cx="1616659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68419" y="3749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1.56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40782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refugio VBG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78608" y="4114800"/>
            <a:ext cx="1440485" cy="20116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92245" y="40782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1.39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" y="4407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nocturna STM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78608" y="4443984"/>
            <a:ext cx="1233221" cy="20116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84981" y="44074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1.19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43600" y="2331720"/>
            <a:ext cx="2834640" cy="2514600"/>
          </a:xfrm>
          <a:prstGeom prst="rect">
            <a:avLst/>
          </a:prstGeom>
          <a:solidFill>
            <a:srgbClr val="1C2035"/>
          </a:solidFill>
          <a:ln w="12700">
            <a:solidFill>
              <a:srgbClr val="252A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943600" y="2331720"/>
            <a:ext cx="54864" cy="2514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23957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ZONAS CRÍTICAS (Noche)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80760" y="2761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Punta de Rieles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909560" y="27614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87/100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80760" y="3090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Villa García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909560" y="30906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84/100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80760" y="3419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Maroñas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909560" y="34198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82/100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8076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Cerro Norte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909560" y="3749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79/100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080760" y="40782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Manga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909560" y="40782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77/100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080760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La Paloma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909560" y="44074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74/100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&amp; HOJA DE RUTA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la evidencia a la política pública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06040" cy="1645920"/>
          </a:xfrm>
          <a:prstGeom prst="rect">
            <a:avLst/>
          </a:prstGeom>
          <a:solidFill>
            <a:srgbClr val="1C2035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9844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Intendencia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Montevideo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de alumbrado público y seguridad urbana con evidencia geoespacial.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06040" cy="1645920"/>
          </a:xfrm>
          <a:prstGeom prst="rect">
            <a:avLst/>
          </a:prstGeom>
          <a:solidFill>
            <a:srgbClr val="1C2035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29844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👮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91840" y="17373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Ministerio 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08483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 de patrullajes preventivos y distribución de recursos focalizados.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606040" cy="1645920"/>
          </a:xfrm>
          <a:prstGeom prst="rect">
            <a:avLst/>
          </a:prstGeom>
          <a:solidFill>
            <a:srgbClr val="1C2035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29844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26480" y="17373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Org. de la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Sociedad Civil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08483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de prevención ubicadas donde el riesgo es real, no donde se denuncia.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999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337560"/>
            <a:ext cx="1920240" cy="1143000"/>
          </a:xfrm>
          <a:prstGeom prst="rect">
            <a:avLst/>
          </a:prstGeom>
          <a:solidFill>
            <a:srgbClr val="1C2035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337560"/>
            <a:ext cx="1920240" cy="457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6499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675888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pública · Datos sintéticos calibrados · Dashboard online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14600" y="3337560"/>
            <a:ext cx="1920240" cy="1143000"/>
          </a:xfrm>
          <a:prstGeom prst="rect">
            <a:avLst/>
          </a:prstGeom>
          <a:solidFill>
            <a:srgbClr val="1C20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14600" y="3337560"/>
            <a:ext cx="19202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336499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06040" y="3675888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microdatos DNPG reales · API tiempo real STM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337560"/>
            <a:ext cx="1920240" cy="1143000"/>
          </a:xfrm>
          <a:prstGeom prst="rect">
            <a:avLst/>
          </a:prstGeom>
          <a:solidFill>
            <a:srgbClr val="1C2035"/>
          </a:solidFill>
          <a:ln w="12700">
            <a:solidFill>
              <a:srgbClr val="FF6B9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337560"/>
            <a:ext cx="1920240" cy="4572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36499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3675888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con IMM Montevideo · Alertas para organizaciones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12280" y="3337560"/>
            <a:ext cx="1920240" cy="1143000"/>
          </a:xfrm>
          <a:prstGeom prst="rect">
            <a:avLst/>
          </a:prstGeom>
          <a:solidFill>
            <a:srgbClr val="1C2035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12280" y="3337560"/>
            <a:ext cx="192024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336499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03720" y="3675888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a ciudades de ALC · Modelo colaborativo abierto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lucia-mvd.streamlit.app  ·  github.com/facszero/lucia-mvd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2286000"/>
            <a:ext cx="6400800" cy="6400800"/>
          </a:xfrm>
          <a:prstGeom prst="ellipse">
            <a:avLst/>
          </a:prstGeom>
          <a:solidFill>
            <a:srgbClr val="FF6B9D">
              <a:alpha val="10000"/>
            </a:srgbClr>
          </a:solidFill>
          <a:ln w="12700">
            <a:solidFill>
              <a:srgbClr val="FF6B9D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LUCÍA-MVD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1261872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8E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“No esperamos a que el riesgo se convierta en tragedia: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E8E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usamos datos para anticiparlo.”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2377440" cy="914400"/>
          </a:xfrm>
          <a:prstGeom prst="rect">
            <a:avLst/>
          </a:prstGeom>
          <a:solidFill>
            <a:srgbClr val="1C2035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4688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85292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en vivo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0540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lucia-mvd.streamlit.app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0" y="2423160"/>
            <a:ext cx="2377440" cy="914400"/>
          </a:xfrm>
          <a:prstGeom prst="rect">
            <a:avLst/>
          </a:prstGeom>
          <a:solidFill>
            <a:srgbClr val="1C2035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24688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74720" y="285292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abierto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0" y="30540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github.com/facszero/lucia-mvd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2423160"/>
            <a:ext cx="2377440" cy="914400"/>
          </a:xfrm>
          <a:prstGeom prst="rect">
            <a:avLst/>
          </a:prstGeom>
          <a:solidFill>
            <a:srgbClr val="1C2035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24688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26480" y="285292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26480" y="30540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DAT4CCIÓN 2026 · ONU Mujeres ALC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5478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GeoPandas · XGBoost · SHAP · Folium · Plotly · Streamlit · Docker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71600" y="3886200"/>
            <a:ext cx="6400800" cy="868680"/>
          </a:xfrm>
          <a:prstGeom prst="rect">
            <a:avLst/>
          </a:prstGeom>
          <a:solidFill>
            <a:srgbClr val="1C2035"/>
          </a:solidFill>
          <a:ln w="12700">
            <a:solidFill>
              <a:srgbClr val="25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3931920"/>
            <a:ext cx="6126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Nota ética: </a:t>
            </a:r>
            <a:pPr algn="l" indent="0" marL="0">
              <a:buNone/>
            </a:pPr>
            <a:r>
              <a:rPr lang="en-US" sz="1000" dirty="0">
                <a:solidFill>
                  <a:srgbClr val="7C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georreferenciación son sintéticos calibrados con estadísticas DNPG 2023. La arquitectura está diseñada para integrar datos reales preservando la privacidad individual.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LUCÍA-MVD — DAT4CCIÓN 2026</dc:title>
  <dc:subject>PptxGenJS Presentation</dc:subject>
  <dc:creator>Equipo LUCÍA-MVD</dc:creator>
  <cp:lastModifiedBy>Equipo LUCÍA-MVD</cp:lastModifiedBy>
  <cp:revision>1</cp:revision>
  <dcterms:created xsi:type="dcterms:W3CDTF">2026-03-10T19:22:46Z</dcterms:created>
  <dcterms:modified xsi:type="dcterms:W3CDTF">2026-03-10T19:22:46Z</dcterms:modified>
</cp:coreProperties>
</file>